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1651000"/>
            <a:ext cx="762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6800" b="1">
                <a:solidFill>
                  <a:srgbClr val="FFFFFF"/>
                </a:solidFill>
                <a:latin typeface="Arial"/>
              </a:rPr>
              <a:t>CloudFlow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048000"/>
            <a:ext cx="762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000">
                <a:solidFill>
                  <a:srgbClr val="FFFFFF"/>
                </a:solidFill>
                <a:latin typeface="Arial"/>
              </a:rPr>
              <a:t>The All-in-One Platform for Modern Teams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4064000"/>
            <a:ext cx="2286000" cy="63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08000"/>
            <a:ext cx="762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4F46E5"/>
                </a:solidFill>
                <a:latin typeface="Arial"/>
              </a:rPr>
              <a:t>The Modern Work Challenge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1651000"/>
            <a:ext cx="1270000" cy="12700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F4444"/>
                </a:solidFill>
                <a:latin typeface="Arial"/>
              </a:rPr>
              <a:t>Fragmented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666666"/>
                </a:solidFill>
                <a:latin typeface="Arial"/>
              </a:rPr>
              <a:t>Teams juggle 10+ different applications daily, wasting time switching contexts and losing productivity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651000"/>
            <a:ext cx="1270000" cy="12700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F4444"/>
                </a:solidFill>
                <a:latin typeface="Arial"/>
              </a:rPr>
              <a:t>Data Silos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666666"/>
                </a:solidFill>
                <a:latin typeface="Arial"/>
              </a:rPr>
              <a:t>Critical information scattered across platforms creates confusion and delays decision-making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1651000"/>
            <a:ext cx="1270000" cy="12700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F4444"/>
                </a:solidFill>
                <a:latin typeface="Arial"/>
              </a:rPr>
              <a:t>Rising Costs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666666"/>
                </a:solidFill>
                <a:latin typeface="Arial"/>
              </a:rPr>
              <a:t>Multiple subscriptions drain budgets while IT struggles to manage licensing and access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08000"/>
            <a:ext cx="762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4F46E5"/>
                </a:solidFill>
                <a:latin typeface="Arial"/>
              </a:rPr>
              <a:t>One Platform, Infinite Possibilities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1651000"/>
            <a:ext cx="2349500" cy="139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1651000"/>
            <a:ext cx="508000" cy="5080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Arial"/>
              </a:rPr>
              <a:t>Team Chat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666666"/>
                </a:solidFill>
                <a:latin typeface="Arial"/>
              </a:rPr>
              <a:t>Real-time messaging and collaboration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365500" y="1651000"/>
            <a:ext cx="2349500" cy="139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65500" y="1651000"/>
            <a:ext cx="508000" cy="508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655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Arial"/>
              </a:rPr>
              <a:t>Task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55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666666"/>
                </a:solidFill>
                <a:latin typeface="Arial"/>
              </a:rPr>
              <a:t>Organize work with boards and timelines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69000" y="1651000"/>
            <a:ext cx="2349500" cy="139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69000" y="1651000"/>
            <a:ext cx="508000" cy="5080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69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Arial"/>
              </a:rPr>
              <a:t>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9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666666"/>
                </a:solidFill>
                <a:latin typeface="Arial"/>
              </a:rPr>
              <a:t>Track performance with insights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365500"/>
            <a:ext cx="2349500" cy="139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2000" y="3365500"/>
            <a:ext cx="508000" cy="508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000" y="33655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Arial"/>
              </a:rPr>
              <a:t>File 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33655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666666"/>
                </a:solidFill>
                <a:latin typeface="Arial"/>
              </a:rPr>
              <a:t>Secure cloud storage for all files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65500" y="3365500"/>
            <a:ext cx="2349500" cy="139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65500" y="3365500"/>
            <a:ext cx="508000" cy="5080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65500" y="33655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Arial"/>
              </a:rPr>
              <a:t>Video Calls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65500" y="33655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666666"/>
                </a:solidFill>
                <a:latin typeface="Arial"/>
              </a:rPr>
              <a:t>HD video meetings built-in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69000" y="3365500"/>
            <a:ext cx="2349500" cy="139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69000" y="3365500"/>
            <a:ext cx="508000" cy="508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69000" y="33655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Arial"/>
              </a:rPr>
              <a:t>Integrations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69000" y="33655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666666"/>
                </a:solidFill>
                <a:latin typeface="Arial"/>
              </a:rPr>
              <a:t>Connect all your favorite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08000"/>
            <a:ext cx="762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4F46E5"/>
                </a:solidFill>
                <a:latin typeface="Arial"/>
              </a:rPr>
              <a:t>Transform Your Team's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EA5E9"/>
                </a:solidFill>
                <a:latin typeface="Arial"/>
              </a:rPr>
              <a:t>⚡ 40% Faster Collaboration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666666"/>
                </a:solidFill>
                <a:latin typeface="Arial"/>
              </a:rPr>
              <a:t>Eliminate tool-switching and streamline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EA5E9"/>
                </a:solidFill>
                <a:latin typeface="Arial"/>
              </a:rPr>
              <a:t>💰 60% Cost Reduction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666666"/>
                </a:solidFill>
                <a:latin typeface="Arial"/>
              </a:rPr>
              <a:t>Replace 10+ tools with one affordable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EA5E9"/>
                </a:solidFill>
                <a:latin typeface="Arial"/>
              </a:rPr>
              <a:t>🔒 Enterprise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666666"/>
                </a:solidFill>
                <a:latin typeface="Arial"/>
              </a:rPr>
              <a:t>SOC 2 compliant with end-to-end encryption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F46E5"/>
                </a:solidFill>
                <a:latin typeface="Arial"/>
              </a:rPr>
              <a:t>📈 Improved Productivity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666666"/>
                </a:solidFill>
                <a:latin typeface="Arial"/>
              </a:rPr>
              <a:t>AI-powered insights help teams work smarter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F46E5"/>
                </a:solidFill>
                <a:latin typeface="Arial"/>
              </a:rPr>
              <a:t>🌍 Work From Anywhere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666666"/>
                </a:solidFill>
                <a:latin typeface="Arial"/>
              </a:rPr>
              <a:t>Cloud-based platform accessible on any device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F46E5"/>
                </a:solidFill>
                <a:latin typeface="Arial"/>
              </a:rPr>
              <a:t>⏱️ 5-Minute Setup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666666"/>
                </a:solidFill>
                <a:latin typeface="Arial"/>
              </a:rPr>
              <a:t>Get your team onboarded in minutes, not weeks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08000"/>
            <a:ext cx="762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4F46E5"/>
                </a:solidFill>
                <a:latin typeface="Arial"/>
              </a:rPr>
              <a:t>Trusted by 50,000+ Teams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651000"/>
            <a:ext cx="6858000" cy="101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3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10M+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  <a:latin typeface="Arial"/>
              </a:rPr>
              <a:t>Active 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99.9%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  <a:latin typeface="Arial"/>
              </a:rPr>
              <a:t>Uptime SLA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4.9★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  <a:latin typeface="Arial"/>
              </a:rPr>
              <a:t>User Rating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3175000"/>
            <a:ext cx="1270000" cy="1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3175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i="1">
                <a:solidFill>
                  <a:srgbClr val="333333"/>
                </a:solidFill>
                <a:latin typeface="Arial"/>
              </a:rPr>
              <a:t>"CloudFlow reduced our software costs by 65% while improving team productivity. Best decision we made this year."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3175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A5E9"/>
                </a:solidFill>
                <a:latin typeface="Arial"/>
              </a:rPr>
              <a:t>— Sarah Chen, CTO at TechCorp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" y="3175000"/>
            <a:ext cx="1270000" cy="1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3175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i="1">
                <a:solidFill>
                  <a:srgbClr val="333333"/>
                </a:solidFill>
                <a:latin typeface="Arial"/>
              </a:rPr>
              <a:t>"The all-in-one platform our remote team needed. Setup was incredibly fast and adoption was seamless."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3175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Arial"/>
              </a:rPr>
              <a:t>— Michael Rodriguez, Head of Operations at StartupX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08000"/>
            <a:ext cx="762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4F46E5"/>
                </a:solidFill>
                <a:latin typeface="Arial"/>
              </a:rPr>
              <a:t>Simple, Transparent Pricing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1651000"/>
            <a:ext cx="2286000" cy="2794000"/>
          </a:xfrm>
          <a:prstGeom prst="rect">
            <a:avLst/>
          </a:prstGeom>
          <a:solidFill>
            <a:srgbClr val="FAFAFA"/>
          </a:solidFill>
          <a:ln w="254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Arial"/>
              </a:rPr>
              <a:t>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4F46E5"/>
                </a:solidFill>
                <a:latin typeface="Arial"/>
              </a:rPr>
              <a:t>$10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666666"/>
                </a:solidFill>
                <a:latin typeface="Arial"/>
              </a:rPr>
              <a:t>per user/month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333333"/>
                </a:solidFill>
                <a:latin typeface="Arial"/>
              </a:rPr>
              <a:t>✓ Up to 10 users</a:t>
            </a:r>
            <a:r>
              <a:t>
</a:t>
            </a:r>
            <a:r>
              <a:rPr sz="1300">
                <a:solidFill>
                  <a:srgbClr val="333333"/>
                </a:solidFill>
                <a:latin typeface="Arial"/>
              </a:rPr>
              <a:t>✓ 100 GB storage</a:t>
            </a:r>
            <a:r>
              <a:t>
</a:t>
            </a:r>
            <a:r>
              <a:rPr sz="1300">
                <a:solidFill>
                  <a:srgbClr val="333333"/>
                </a:solidFill>
                <a:latin typeface="Arial"/>
              </a:rPr>
              <a:t>✓ Basic integrations</a:t>
            </a:r>
            <a:r>
              <a:t>
</a:t>
            </a:r>
            <a:r>
              <a:rPr sz="1300">
                <a:solidFill>
                  <a:srgbClr val="333333"/>
                </a:solidFill>
                <a:latin typeface="Arial"/>
              </a:rPr>
              <a:t>✓ Email support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500" y="1524000"/>
            <a:ext cx="2286000" cy="3048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365500" y="1778000"/>
            <a:ext cx="1270000" cy="1270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65500" y="1524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Professional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5500" y="1524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rial"/>
              </a:rPr>
              <a:t>$25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5500" y="1524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  <a:latin typeface="Arial"/>
              </a:rPr>
              <a:t>per user/month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5500" y="1524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  <a:latin typeface="Arial"/>
              </a:rPr>
              <a:t>✓ Unlimited users</a:t>
            </a:r>
            <a:r>
              <a:t>
</a:t>
            </a:r>
            <a:r>
              <a:rPr sz="1300">
                <a:solidFill>
                  <a:srgbClr val="FFFFFF"/>
                </a:solidFill>
                <a:latin typeface="Arial"/>
              </a:rPr>
              <a:t>✓ 1 TB storage</a:t>
            </a:r>
            <a:r>
              <a:t>
</a:t>
            </a:r>
            <a:r>
              <a:rPr sz="1300">
                <a:solidFill>
                  <a:srgbClr val="FFFFFF"/>
                </a:solidFill>
                <a:latin typeface="Arial"/>
              </a:rPr>
              <a:t>✓ All integrations</a:t>
            </a:r>
            <a:r>
              <a:t>
</a:t>
            </a:r>
            <a:r>
              <a:rPr sz="1300">
                <a:solidFill>
                  <a:srgbClr val="FFFFFF"/>
                </a:solidFill>
                <a:latin typeface="Arial"/>
              </a:rPr>
              <a:t>✓ Priority support</a:t>
            </a:r>
            <a:r>
              <a:t>
</a:t>
            </a:r>
            <a:r>
              <a:rPr sz="1300">
                <a:solidFill>
                  <a:srgbClr val="FFFFFF"/>
                </a:solidFill>
                <a:latin typeface="Arial"/>
              </a:rPr>
              <a:t>✓ Advanced analytics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69000" y="1651000"/>
            <a:ext cx="2286000" cy="2794000"/>
          </a:xfrm>
          <a:prstGeom prst="rect">
            <a:avLst/>
          </a:prstGeom>
          <a:solidFill>
            <a:srgbClr val="FAFAFA"/>
          </a:solidFill>
          <a:ln w="254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69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Arial"/>
              </a:rPr>
              <a:t>Enterprise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69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4F46E5"/>
                </a:solidFill>
                <a:latin typeface="Arial"/>
              </a:rPr>
              <a:t>Custom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9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666666"/>
                </a:solidFill>
                <a:latin typeface="Arial"/>
              </a:rPr>
              <a:t>contact sales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9000" y="1651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333333"/>
                </a:solidFill>
                <a:latin typeface="Arial"/>
              </a:rPr>
              <a:t>✓ Custom features</a:t>
            </a:r>
            <a:r>
              <a:t>
</a:t>
            </a:r>
            <a:r>
              <a:rPr sz="1300">
                <a:solidFill>
                  <a:srgbClr val="333333"/>
                </a:solidFill>
                <a:latin typeface="Arial"/>
              </a:rPr>
              <a:t>✓ Unlimited storage</a:t>
            </a:r>
            <a:r>
              <a:t>
</a:t>
            </a:r>
            <a:r>
              <a:rPr sz="1300">
                <a:solidFill>
                  <a:srgbClr val="333333"/>
                </a:solidFill>
                <a:latin typeface="Arial"/>
              </a:rPr>
              <a:t>✓ Dedicated support</a:t>
            </a:r>
            <a:r>
              <a:t>
</a:t>
            </a:r>
            <a:r>
              <a:rPr sz="1300">
                <a:solidFill>
                  <a:srgbClr val="333333"/>
                </a:solidFill>
                <a:latin typeface="Arial"/>
              </a:rPr>
              <a:t>✓ SLA guarantee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1397000"/>
            <a:ext cx="762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6200" b="1">
                <a:solidFill>
                  <a:srgbClr val="FFFFFF"/>
                </a:solidFill>
                <a:latin typeface="Arial"/>
              </a:rPr>
              <a:t>Ready to Transform</a:t>
            </a:r>
            <a:r>
              <a:t>
</a:t>
            </a:r>
            <a:r>
              <a:rPr sz="6200" b="1">
                <a:solidFill>
                  <a:srgbClr val="FFFFFF"/>
                </a:solidFill>
                <a:latin typeface="Arial"/>
              </a:rPr>
              <a:t>Your Workflow?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429000"/>
            <a:ext cx="635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Arial"/>
              </a:rPr>
              <a:t>Start your 14-day free trial today.</a:t>
            </a:r>
            <a:r>
              <a:t>
</a:t>
            </a:r>
            <a:r>
              <a:rPr sz="2200">
                <a:solidFill>
                  <a:srgbClr val="FFFFFF"/>
                </a:solidFill>
                <a:latin typeface="Arial"/>
              </a:rPr>
              <a:t>No credit card required.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4381500"/>
            <a:ext cx="2540000" cy="63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56000" y="45466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FFFFF"/>
                </a:solidFill>
                <a:latin typeface="Arial"/>
              </a:rPr>
              <a:t>or schedule a demo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