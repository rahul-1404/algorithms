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32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Minimal</a:t>
            </a:r>
            <a:r>
              <a:t>
</a:t>
            </a:r>
            <a:r>
              <a:rPr sz="7200" b="1">
                <a:solidFill>
                  <a:srgbClr val="FFFFFF"/>
                </a:solidFill>
                <a:latin typeface="Arial"/>
              </a:rPr>
              <a:t>Design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4064000"/>
            <a:ext cx="50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41275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999999"/>
                </a:solidFill>
                <a:latin typeface="Arial"/>
              </a:rPr>
              <a:t>SIMPLICITY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08000"/>
            <a:ext cx="50800" cy="5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50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Arial"/>
              </a:rP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0F0F0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Less is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Strip away the unnecessary. Every element must serve a purpose. Clean interfaces lead to better user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0F0F0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Form Follows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Design should solve problems, not create them. Prioritize usability over decoration.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0F0F0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Consistency Creates 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A unified system reduces cognitive load and builds user confidence through familiarity.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08000"/>
            <a:ext cx="50800" cy="5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50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Arial"/>
              </a:rPr>
              <a:t>Color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Arial"/>
              </a:rPr>
              <a:t>PRIMARY PALETTE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651000"/>
            <a:ext cx="1778000" cy="127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#000000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651000"/>
            <a:ext cx="1778000" cy="127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Dark Gray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#333333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651000"/>
            <a:ext cx="1778000" cy="1270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Medium Gray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#999999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651000"/>
            <a:ext cx="1778000" cy="127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Light Gray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#F0F0F0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Usage:</a:t>
            </a:r>
            <a:r>
              <a:rPr sz="1400">
                <a:solidFill>
                  <a:srgbClr val="333333"/>
                </a:solidFill>
                <a:latin typeface="Arial"/>
              </a:rPr>
              <a:t>Usage:</a:t>
            </a:r>
            <a:r>
              <a:rPr sz="1400">
                <a:solidFill>
                  <a:srgbClr val="333333"/>
                </a:solidFill>
                <a:latin typeface="Arial"/>
              </a:rPr>
              <a:t>Black for text and UI elements.
                        Grays for hierarchy and borders. Light gray for backgrounds and disabled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08000"/>
            <a:ext cx="50800" cy="5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50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Arial"/>
              </a:rPr>
              <a:t>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000000"/>
                </a:solidFill>
                <a:latin typeface="Arial"/>
              </a:rPr>
              <a:t>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56pt / Bold / Line height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Arial"/>
              </a:rPr>
              <a:t>Heading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42pt / Bold / Line height 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Heading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28pt / Bold / Line height 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Arial"/>
              </a:rPr>
              <a:t>Body text at 16pt provides optimal readability across all devices and screen sizes.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16pt / Regular / Line height 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Small text for captions and secondary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999999"/>
                </a:solidFill>
                <a:latin typeface="Arial"/>
              </a:rPr>
              <a:t>13pt / Regular / Line height 1.4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08000"/>
            <a:ext cx="50800" cy="5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50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Arial"/>
              </a:rPr>
              <a:t>Spacing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Consistent spacing creates visual rhythm. Use multiples of 8pt for all spacing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778000"/>
            <a:ext cx="101600" cy="10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XS</a:t>
            </a:r>
            <a:r>
              <a:rPr sz="1600">
                <a:solidFill>
                  <a:srgbClr val="000000"/>
                </a:solidFill>
                <a:latin typeface="Arial"/>
              </a:rPr>
              <a:t>XS</a:t>
            </a:r>
            <a:r>
              <a:rPr sz="1600">
                <a:solidFill>
                  <a:srgbClr val="000000"/>
                </a:solidFill>
                <a:latin typeface="Arial"/>
              </a:rPr>
              <a:t>— 8pt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Tight spacing between related 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778000"/>
            <a:ext cx="203200" cy="2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S</a:t>
            </a:r>
            <a:r>
              <a:rPr sz="1600">
                <a:solidFill>
                  <a:srgbClr val="000000"/>
                </a:solidFill>
                <a:latin typeface="Arial"/>
              </a:rPr>
              <a:t>S</a:t>
            </a:r>
            <a:r>
              <a:rPr sz="1600">
                <a:solidFill>
                  <a:srgbClr val="000000"/>
                </a:solidFill>
                <a:latin typeface="Arial"/>
              </a:rPr>
              <a:t>— 16pt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Standard padding for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1778000"/>
            <a:ext cx="30480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M</a:t>
            </a:r>
            <a:r>
              <a:rPr sz="1600">
                <a:solidFill>
                  <a:srgbClr val="000000"/>
                </a:solidFill>
                <a:latin typeface="Arial"/>
              </a:rPr>
              <a:t>M</a:t>
            </a:r>
            <a:r>
              <a:rPr sz="1600">
                <a:solidFill>
                  <a:srgbClr val="000000"/>
                </a:solidFill>
                <a:latin typeface="Arial"/>
              </a:rPr>
              <a:t>— 24pt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Spacing between component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778000"/>
            <a:ext cx="406400" cy="40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L</a:t>
            </a:r>
            <a:r>
              <a:rPr sz="1600">
                <a:solidFill>
                  <a:srgbClr val="000000"/>
                </a:solidFill>
                <a:latin typeface="Arial"/>
              </a:rPr>
              <a:t>L</a:t>
            </a:r>
            <a:r>
              <a:rPr sz="1600">
                <a:solidFill>
                  <a:srgbClr val="000000"/>
                </a:solidFill>
                <a:latin typeface="Arial"/>
              </a:rPr>
              <a:t>— 32pt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Section spacing and large gaps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1778000"/>
            <a:ext cx="609600" cy="60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XL</a:t>
            </a:r>
            <a:r>
              <a:rPr sz="1600">
                <a:solidFill>
                  <a:srgbClr val="000000"/>
                </a:solidFill>
                <a:latin typeface="Arial"/>
              </a:rPr>
              <a:t>XL</a:t>
            </a:r>
            <a:r>
              <a:rPr sz="1600">
                <a:solidFill>
                  <a:srgbClr val="000000"/>
                </a:solidFill>
                <a:latin typeface="Arial"/>
              </a:rPr>
              <a:t>— 48pt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99999"/>
                </a:solidFill>
                <a:latin typeface="Arial"/>
              </a:rPr>
              <a:t>Major layout divisions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08000"/>
            <a:ext cx="50800" cy="5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508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Arial"/>
              </a:rP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999999"/>
                </a:solidFill>
                <a:latin typeface="Arial"/>
              </a:rPr>
              <a:t>BUTTONS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778000"/>
            <a:ext cx="1270000" cy="127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778000"/>
            <a:ext cx="1270000" cy="127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999999"/>
                </a:solidFill>
                <a:latin typeface="Arial"/>
              </a:rPr>
              <a:t>INPUT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778000"/>
            <a:ext cx="3556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999999"/>
                </a:solidFill>
                <a:latin typeface="Arial"/>
              </a:rPr>
              <a:t>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778000"/>
            <a:ext cx="6604000" cy="127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Card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778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Cards contain content and actions about a single subject. Use minimal borders and subtle backgrounds to maintain the clean aesthetic.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rial"/>
              </a:rPr>
              <a:t>Design is not</a:t>
            </a:r>
            <a:r>
              <a:t>
</a:t>
            </a:r>
            <a:r>
              <a:rPr sz="5800" b="1">
                <a:solidFill>
                  <a:srgbClr val="FFFFFF"/>
                </a:solidFill>
                <a:latin typeface="Arial"/>
              </a:rPr>
              <a:t>what it looks like.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rial"/>
              </a:rPr>
              <a:t>Design is</a:t>
            </a:r>
            <a:r>
              <a:t>
</a:t>
            </a:r>
            <a:r>
              <a:rPr sz="5800" b="1">
                <a:solidFill>
                  <a:srgbClr val="FFFFFF"/>
                </a:solidFill>
                <a:latin typeface="Arial"/>
              </a:rPr>
              <a:t>how it 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762000"/>
            <a:ext cx="50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999999"/>
                </a:solidFill>
                <a:latin typeface="Arial"/>
              </a:rPr>
              <a:t>MINIMAL DESIGN SYSTEM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