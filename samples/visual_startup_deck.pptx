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0" y="-1905000"/>
            <a:ext cx="6350000" cy="6350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81000" y="2540000"/>
            <a:ext cx="3175000" cy="3175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16000" y="1524000"/>
            <a:ext cx="7112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Arial"/>
              </a:rPr>
              <a:t>NOVA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1016000" y="2667000"/>
            <a:ext cx="63500" cy="7620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70000" y="2730500"/>
            <a:ext cx="635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800">
                <a:solidFill>
                  <a:srgbClr val="CBD5E1"/>
                </a:solidFill>
                <a:latin typeface="Arial"/>
              </a:rPr>
              <a:t>Revolutionizing Enterprise</a:t>
            </a:r>
            <a:r>
              <a:t>
</a:t>
            </a:r>
            <a:r>
              <a:rPr sz="2800">
                <a:solidFill>
                  <a:srgbClr val="CBD5E1"/>
                </a:solidFill>
                <a:latin typeface="Arial"/>
              </a:rPr>
              <a:t>Automation with AI</a:t>
            </a:r>
          </a:p>
        </p:txBody>
      </p:sp>
      <p:sp>
        <p:nvSpPr>
          <p:cNvPr id="7" name="Rectangle 6"/>
          <p:cNvSpPr/>
          <p:nvPr/>
        </p:nvSpPr>
        <p:spPr>
          <a:xfrm>
            <a:off x="1016000" y="4064000"/>
            <a:ext cx="2794000" cy="698500"/>
          </a:xfrm>
          <a:prstGeom prst="rect">
            <a:avLst/>
          </a:prstGeom>
          <a:solidFill>
            <a:srgbClr val="FBBF24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33500" y="42418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BBF24"/>
                </a:solidFill>
                <a:latin typeface="Arial"/>
              </a:rPr>
              <a:t>SERIES A PITCH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7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5000" y="508000"/>
            <a:ext cx="7874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0F172A"/>
                </a:solidFill>
                <a:latin typeface="Arial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270000"/>
            <a:ext cx="6985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64748B"/>
                </a:solidFill>
                <a:latin typeface="Arial"/>
              </a:rPr>
              <a:t>Enterprises waste $450B annually on inefficient processes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35000" y="2032000"/>
            <a:ext cx="2413000" cy="2540000"/>
          </a:xfrm>
          <a:prstGeom prst="rect">
            <a:avLst/>
          </a:prstGeom>
          <a:solidFill>
            <a:srgbClr val="FFFFFF"/>
          </a:solidFill>
          <a:ln w="381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35000" y="2032000"/>
            <a:ext cx="2413000" cy="127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2413000"/>
            <a:ext cx="762000" cy="76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79500" y="2540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DC2626"/>
                </a:solidFill>
                <a:latin typeface="Arial"/>
              </a:rPr>
              <a:t>87%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9000" y="3429000"/>
            <a:ext cx="1905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Arial"/>
              </a:rPr>
              <a:t>Manual 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9000" y="3873500"/>
            <a:ext cx="1905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64748B"/>
                </a:solidFill>
                <a:latin typeface="Arial"/>
              </a:rPr>
              <a:t>Tasks still done manually despite having automation tools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65500" y="2032000"/>
            <a:ext cx="2413000" cy="2540000"/>
          </a:xfrm>
          <a:prstGeom prst="rect">
            <a:avLst/>
          </a:prstGeom>
          <a:solidFill>
            <a:srgbClr val="FFFFFF"/>
          </a:solidFill>
          <a:ln w="381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65500" y="2032000"/>
            <a:ext cx="2413000" cy="127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9500" y="2413000"/>
            <a:ext cx="762000" cy="762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721100" y="2540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D97706"/>
                </a:solidFill>
                <a:latin typeface="Arial"/>
              </a:rPr>
              <a:t>$450B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9500" y="3429000"/>
            <a:ext cx="1905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Arial"/>
              </a:rPr>
              <a:t>Wasted Cost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9500" y="3873500"/>
            <a:ext cx="1905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64748B"/>
                </a:solidFill>
                <a:latin typeface="Arial"/>
              </a:rPr>
              <a:t>Annual waste on inefficient business processes globally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96000" y="2032000"/>
            <a:ext cx="2413000" cy="2540000"/>
          </a:xfrm>
          <a:prstGeom prst="rect">
            <a:avLst/>
          </a:prstGeom>
          <a:solidFill>
            <a:srgbClr val="FFFFFF"/>
          </a:solidFill>
          <a:ln w="381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96000" y="2032000"/>
            <a:ext cx="2413000" cy="127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00" y="2413000"/>
            <a:ext cx="762000" cy="7620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502400" y="2540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7C3AED"/>
                </a:solidFill>
                <a:latin typeface="Arial"/>
              </a:rPr>
              <a:t>40%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0000" y="3429000"/>
            <a:ext cx="1905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Arial"/>
              </a:rPr>
              <a:t>Time Lost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0000" y="3873500"/>
            <a:ext cx="1905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64748B"/>
                </a:solidFill>
                <a:latin typeface="Arial"/>
              </a:rPr>
              <a:t>Employee time spent on repetitive tasks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00" y="-1270000"/>
            <a:ext cx="5080000" cy="508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35000" y="508000"/>
            <a:ext cx="7874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Arial"/>
              </a:rPr>
              <a:t>Our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35000" y="1651000"/>
            <a:ext cx="3810000" cy="1397000"/>
          </a:xfrm>
          <a:prstGeom prst="rect">
            <a:avLst/>
          </a:prstGeom>
          <a:solidFill>
            <a:srgbClr val="6366F1"/>
          </a:solidFill>
          <a:ln w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000" y="1841500"/>
            <a:ext cx="762000" cy="76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17600" y="19939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rgbClr val="FFFFFF"/>
                </a:solidFill>
                <a:latin typeface="Arial"/>
              </a:rPr>
              <a:t>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41500" y="1905000"/>
            <a:ext cx="2413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"/>
              </a:rPr>
              <a:t>AI Agent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41500" y="2349500"/>
            <a:ext cx="2413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CBD5E1"/>
                </a:solidFill>
                <a:latin typeface="Arial"/>
              </a:rPr>
              <a:t>Deploy autonomous AI agents in minutes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99000" y="1651000"/>
            <a:ext cx="3810000" cy="1397000"/>
          </a:xfrm>
          <a:prstGeom prst="rect">
            <a:avLst/>
          </a:prstGeom>
          <a:solidFill>
            <a:srgbClr val="FBBF24"/>
          </a:solidFill>
          <a:ln w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3000" y="1841500"/>
            <a:ext cx="762000" cy="762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181600" y="19939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rgbClr val="0F172A"/>
                </a:solidFill>
                <a:latin typeface="Arial"/>
              </a:rPr>
              <a:t>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05500" y="1905000"/>
            <a:ext cx="2413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"/>
              </a:rPr>
              <a:t>Real-Time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05500" y="2349500"/>
            <a:ext cx="2413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CBD5E1"/>
                </a:solidFill>
                <a:latin typeface="Arial"/>
              </a:rPr>
              <a:t>Agents learn and improve continuously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302000"/>
            <a:ext cx="3810000" cy="1397000"/>
          </a:xfrm>
          <a:prstGeom prst="rect">
            <a:avLst/>
          </a:prstGeom>
          <a:solidFill>
            <a:srgbClr val="10B981"/>
          </a:solidFill>
          <a:ln w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9000" y="3492500"/>
            <a:ext cx="762000" cy="762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117600" y="36449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rgbClr val="FFFFFF"/>
                </a:solidFill>
                <a:latin typeface="Arial"/>
              </a:rPr>
              <a:t>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41500" y="3556000"/>
            <a:ext cx="2413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"/>
              </a:rPr>
              <a:t>80% Cost Savings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41500" y="4000500"/>
            <a:ext cx="2413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CBD5E1"/>
                </a:solidFill>
                <a:latin typeface="Arial"/>
              </a:rPr>
              <a:t>Reduce operational costs dramatically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99000" y="3302000"/>
            <a:ext cx="3810000" cy="1397000"/>
          </a:xfrm>
          <a:prstGeom prst="rect">
            <a:avLst/>
          </a:prstGeom>
          <a:solidFill>
            <a:srgbClr val="EC4899"/>
          </a:solidFill>
          <a:ln w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53000" y="3492500"/>
            <a:ext cx="762000" cy="7620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181600" y="36449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rgbClr val="FFFFFF"/>
                </a:solidFill>
                <a:latin typeface="Arial"/>
              </a:rPr>
              <a:t>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05500" y="3556000"/>
            <a:ext cx="2413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"/>
              </a:rPr>
              <a:t>Zero Setup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05500" y="4000500"/>
            <a:ext cx="2413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CBD5E1"/>
                </a:solidFill>
                <a:latin typeface="Arial"/>
              </a:rPr>
              <a:t>Deploy in under 5 minutes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524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5000" y="444500"/>
            <a:ext cx="7874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Arial"/>
              </a:rPr>
              <a:t>Market Opportunity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0" y="2032000"/>
            <a:ext cx="2413000" cy="2667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89000" y="2667000"/>
            <a:ext cx="1905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$50B</a:t>
            </a:r>
          </a:p>
        </p:txBody>
      </p:sp>
      <p:sp>
        <p:nvSpPr>
          <p:cNvPr id="6" name="Rectangle 5"/>
          <p:cNvSpPr/>
          <p:nvPr/>
        </p:nvSpPr>
        <p:spPr>
          <a:xfrm>
            <a:off x="889000" y="3810000"/>
            <a:ext cx="190500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9000" y="4000500"/>
            <a:ext cx="1905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FFFFFF"/>
                </a:solidFill>
                <a:latin typeface="Arial"/>
              </a:rPr>
              <a:t>Total Addressable Market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5500" y="2032000"/>
            <a:ext cx="2413000" cy="2667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19500" y="2667000"/>
            <a:ext cx="1905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65%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19500" y="3810000"/>
            <a:ext cx="190500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9500" y="4000500"/>
            <a:ext cx="1905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FFFFFF"/>
                </a:solidFill>
                <a:latin typeface="Arial"/>
              </a:rPr>
              <a:t>Annual Growth Rate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2032000"/>
            <a:ext cx="2413000" cy="2667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50000" y="2667000"/>
            <a:ext cx="1905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5K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3810000"/>
            <a:ext cx="190500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0000" y="4000500"/>
            <a:ext cx="1905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FFFFFF"/>
                </a:solidFill>
                <a:latin typeface="Arial"/>
              </a:rPr>
              <a:t>Enterprise Customers Ready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444500"/>
            <a:ext cx="7874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0F172A"/>
                </a:solidFill>
                <a:latin typeface="Arial"/>
              </a:rPr>
              <a:t>Our Traction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889000" y="1905000"/>
            <a:ext cx="7366000" cy="508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89000" y="1689100"/>
            <a:ext cx="304800" cy="304800"/>
          </a:xfrm>
          <a:prstGeom prst="rect">
            <a:avLst/>
          </a:prstGeom>
          <a:solidFill>
            <a:srgbClr val="6366F1"/>
          </a:solidFill>
          <a:ln w="635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8000" y="2286000"/>
            <a:ext cx="1270000" cy="2032000"/>
          </a:xfrm>
          <a:prstGeom prst="rect">
            <a:avLst/>
          </a:prstGeom>
          <a:solidFill>
            <a:srgbClr val="FFFFFF"/>
          </a:solidFill>
          <a:ln w="381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8500" y="2540000"/>
            <a:ext cx="889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366F1"/>
                </a:solidFill>
                <a:latin typeface="Arial"/>
              </a:rPr>
              <a:t>Jan 2024</a:t>
            </a:r>
          </a:p>
        </p:txBody>
      </p:sp>
      <p:sp>
        <p:nvSpPr>
          <p:cNvPr id="7" name="Rectangle 6"/>
          <p:cNvSpPr/>
          <p:nvPr/>
        </p:nvSpPr>
        <p:spPr>
          <a:xfrm>
            <a:off x="698500" y="2921000"/>
            <a:ext cx="889000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8500" y="3111500"/>
            <a:ext cx="889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64748B"/>
                </a:solidFill>
                <a:latin typeface="Arial"/>
              </a:rPr>
              <a:t>Founded</a:t>
            </a:r>
            <a:r>
              <a:t>
</a:t>
            </a:r>
            <a:r>
              <a:rPr sz="1300">
                <a:solidFill>
                  <a:srgbClr val="64748B"/>
                </a:solidFill>
                <a:latin typeface="Arial"/>
              </a:rPr>
              <a:t>Raised $3M seed</a:t>
            </a:r>
          </a:p>
        </p:txBody>
      </p:sp>
      <p:sp>
        <p:nvSpPr>
          <p:cNvPr id="9" name="Rectangle 8"/>
          <p:cNvSpPr/>
          <p:nvPr/>
        </p:nvSpPr>
        <p:spPr>
          <a:xfrm>
            <a:off x="2667000" y="1689100"/>
            <a:ext cx="304800" cy="304800"/>
          </a:xfrm>
          <a:prstGeom prst="rect">
            <a:avLst/>
          </a:prstGeom>
          <a:solidFill>
            <a:srgbClr val="FBBF24"/>
          </a:solidFill>
          <a:ln w="635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0" y="2286000"/>
            <a:ext cx="1270000" cy="2032000"/>
          </a:xfrm>
          <a:prstGeom prst="rect">
            <a:avLst/>
          </a:prstGeom>
          <a:solidFill>
            <a:srgbClr val="FFFFFF"/>
          </a:solidFill>
          <a:ln w="381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76500" y="2540000"/>
            <a:ext cx="889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  <a:latin typeface="Arial"/>
              </a:rPr>
              <a:t>Apr 2024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76500" y="2921000"/>
            <a:ext cx="889000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76500" y="3111500"/>
            <a:ext cx="889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64748B"/>
                </a:solidFill>
                <a:latin typeface="Arial"/>
              </a:rPr>
              <a:t>100 customers</a:t>
            </a:r>
            <a:r>
              <a:t>
</a:t>
            </a:r>
            <a:r>
              <a:rPr sz="1300">
                <a:solidFill>
                  <a:srgbClr val="64748B"/>
                </a:solidFill>
                <a:latin typeface="Arial"/>
              </a:rPr>
              <a:t>$250K MRR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45000" y="1689100"/>
            <a:ext cx="304800" cy="304800"/>
          </a:xfrm>
          <a:prstGeom prst="rect">
            <a:avLst/>
          </a:prstGeom>
          <a:solidFill>
            <a:srgbClr val="10B981"/>
          </a:solidFill>
          <a:ln w="635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064000" y="2286000"/>
            <a:ext cx="1270000" cy="2032000"/>
          </a:xfrm>
          <a:prstGeom prst="rect">
            <a:avLst/>
          </a:prstGeom>
          <a:solidFill>
            <a:srgbClr val="FFFFFF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54500" y="2540000"/>
            <a:ext cx="889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59669"/>
                </a:solidFill>
                <a:latin typeface="Arial"/>
              </a:rPr>
              <a:t>Aug 2024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54500" y="2921000"/>
            <a:ext cx="889000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54500" y="3111500"/>
            <a:ext cx="889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64748B"/>
                </a:solidFill>
                <a:latin typeface="Arial"/>
              </a:rPr>
              <a:t>500 customers</a:t>
            </a:r>
            <a:r>
              <a:t>
</a:t>
            </a:r>
            <a:r>
              <a:rPr sz="1300">
                <a:solidFill>
                  <a:srgbClr val="64748B"/>
                </a:solidFill>
                <a:latin typeface="Arial"/>
              </a:rPr>
              <a:t>$1M MRR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23000" y="1689100"/>
            <a:ext cx="304800" cy="304800"/>
          </a:xfrm>
          <a:prstGeom prst="rect">
            <a:avLst/>
          </a:prstGeom>
          <a:solidFill>
            <a:srgbClr val="EC4899"/>
          </a:solidFill>
          <a:ln w="635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842000" y="2286000"/>
            <a:ext cx="1270000" cy="2032000"/>
          </a:xfrm>
          <a:prstGeom prst="rect">
            <a:avLst/>
          </a:prstGeom>
          <a:solidFill>
            <a:srgbClr val="FFFFFF"/>
          </a:solidFill>
          <a:ln w="381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2500" y="2540000"/>
            <a:ext cx="889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DB2777"/>
                </a:solidFill>
                <a:latin typeface="Arial"/>
              </a:rPr>
              <a:t>Nov 2024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2500" y="2921000"/>
            <a:ext cx="889000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2500" y="3111500"/>
            <a:ext cx="889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64748B"/>
                </a:solidFill>
                <a:latin typeface="Arial"/>
              </a:rPr>
              <a:t>1500 customers</a:t>
            </a:r>
            <a:r>
              <a:t>
</a:t>
            </a:r>
            <a:r>
              <a:rPr sz="1300">
                <a:solidFill>
                  <a:srgbClr val="64748B"/>
                </a:solidFill>
                <a:latin typeface="Arial"/>
              </a:rPr>
              <a:t>$3.5M MRR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01000" y="1689100"/>
            <a:ext cx="304800" cy="304800"/>
          </a:xfrm>
          <a:prstGeom prst="rect">
            <a:avLst/>
          </a:prstGeom>
          <a:solidFill>
            <a:srgbClr val="94A3B8"/>
          </a:solidFill>
          <a:ln w="635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620000" y="2286000"/>
            <a:ext cx="1270000" cy="2032000"/>
          </a:xfrm>
          <a:prstGeom prst="rect">
            <a:avLst/>
          </a:prstGeom>
          <a:solidFill>
            <a:srgbClr val="FFFFFF"/>
          </a:solidFill>
          <a:ln w="381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10500" y="2540000"/>
            <a:ext cx="889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75569"/>
                </a:solidFill>
                <a:latin typeface="Arial"/>
              </a:rPr>
              <a:t>Q2 2025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10500" y="2921000"/>
            <a:ext cx="889000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10500" y="3111500"/>
            <a:ext cx="889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64748B"/>
                </a:solidFill>
                <a:latin typeface="Arial"/>
              </a:rPr>
              <a:t>5K customers</a:t>
            </a:r>
            <a:r>
              <a:t>
</a:t>
            </a:r>
            <a:r>
              <a:rPr sz="1300">
                <a:solidFill>
                  <a:srgbClr val="64748B"/>
                </a:solidFill>
                <a:latin typeface="Arial"/>
              </a:rPr>
              <a:t>$12M MRR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5000" y="444500"/>
            <a:ext cx="7874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Arial"/>
              </a:rPr>
              <a:t>World-Class Team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0" y="1524000"/>
            <a:ext cx="1905000" cy="1905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5000" y="3683000"/>
            <a:ext cx="1905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Dr. Sarah Chen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" y="4064000"/>
            <a:ext cx="1905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FBBF24"/>
                </a:solidFill>
                <a:latin typeface="Arial"/>
              </a:rPr>
              <a:t>CEO &amp; Co-Founder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" y="4356100"/>
            <a:ext cx="1778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94A3B8"/>
                </a:solidFill>
                <a:latin typeface="Arial"/>
              </a:rPr>
              <a:t>Ex-Google DeepMind</a:t>
            </a:r>
            <a:r>
              <a:t>
</a:t>
            </a:r>
            <a:r>
              <a:rPr sz="1100">
                <a:solidFill>
                  <a:srgbClr val="94A3B8"/>
                </a:solidFill>
                <a:latin typeface="Arial"/>
              </a:rPr>
              <a:t>Stanford PhD AI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4000" y="1524000"/>
            <a:ext cx="1905000" cy="1905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794000" y="3683000"/>
            <a:ext cx="1905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Marcus Johnson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94000" y="4064000"/>
            <a:ext cx="1905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FBBF24"/>
                </a:solidFill>
                <a:latin typeface="Arial"/>
              </a:rPr>
              <a:t>CTO &amp; Co-Founder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57500" y="4356100"/>
            <a:ext cx="1778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94A3B8"/>
                </a:solidFill>
                <a:latin typeface="Arial"/>
              </a:rPr>
              <a:t>Ex-Amazon AWS</a:t>
            </a:r>
            <a:r>
              <a:t>
</a:t>
            </a:r>
            <a:r>
              <a:rPr sz="1100">
                <a:solidFill>
                  <a:srgbClr val="94A3B8"/>
                </a:solidFill>
                <a:latin typeface="Arial"/>
              </a:rPr>
              <a:t>MIT Computer Science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3000" y="1524000"/>
            <a:ext cx="1905000" cy="1905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953000" y="3683000"/>
            <a:ext cx="1905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Priya Sharma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53000" y="4064000"/>
            <a:ext cx="1905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FBBF24"/>
                </a:solidFill>
                <a:latin typeface="Arial"/>
              </a:rPr>
              <a:t>Head of Product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16500" y="4356100"/>
            <a:ext cx="1778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94A3B8"/>
                </a:solidFill>
                <a:latin typeface="Arial"/>
              </a:rPr>
              <a:t>Ex-Meta AI</a:t>
            </a:r>
            <a:r>
              <a:t>
</a:t>
            </a:r>
            <a:r>
              <a:rPr sz="1100">
                <a:solidFill>
                  <a:srgbClr val="94A3B8"/>
                </a:solidFill>
                <a:latin typeface="Arial"/>
              </a:rPr>
              <a:t>Berkeley MBA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00" y="-1905000"/>
            <a:ext cx="6350000" cy="635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889000"/>
            <a:ext cx="762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6800" b="1">
                <a:solidFill>
                  <a:srgbClr val="FFFFFF"/>
                </a:solidFill>
                <a:latin typeface="Arial"/>
              </a:rPr>
              <a:t>The Ask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2286000"/>
            <a:ext cx="4064000" cy="190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603500"/>
            <a:ext cx="3429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000">
                <a:solidFill>
                  <a:srgbClr val="64748B"/>
                </a:solidFill>
                <a:latin typeface="Arial"/>
              </a:rPr>
              <a:t>Raising Series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048000"/>
            <a:ext cx="3429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6800" b="1">
                <a:solidFill>
                  <a:srgbClr val="0F172A"/>
                </a:solidFill>
                <a:latin typeface="Arial"/>
              </a:rPr>
              <a:t>$15M</a:t>
            </a:r>
          </a:p>
        </p:txBody>
      </p:sp>
      <p:sp>
        <p:nvSpPr>
          <p:cNvPr id="8" name="Rectangle 7"/>
          <p:cNvSpPr/>
          <p:nvPr/>
        </p:nvSpPr>
        <p:spPr>
          <a:xfrm>
            <a:off x="5080000" y="2286000"/>
            <a:ext cx="3302000" cy="1905000"/>
          </a:xfrm>
          <a:prstGeom prst="rect">
            <a:avLst/>
          </a:prstGeom>
          <a:solidFill>
            <a:srgbClr val="FFFFFF"/>
          </a:solidFill>
          <a:ln w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97500" y="2540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Use of Funds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7500" y="29845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E2E8F0"/>
                </a:solidFill>
                <a:latin typeface="Arial"/>
              </a:rPr>
              <a:t>• 45% Engineering &amp; AI R&amp;D</a:t>
            </a:r>
            <a:r>
              <a:t>
</a:t>
            </a:r>
            <a:r>
              <a:rPr sz="1400">
                <a:solidFill>
                  <a:srgbClr val="E2E8F0"/>
                </a:solidFill>
                <a:latin typeface="Arial"/>
              </a:rPr>
              <a:t>• 30% Sales &amp; Marketing</a:t>
            </a:r>
            <a:r>
              <a:t>
</a:t>
            </a:r>
            <a:r>
              <a:rPr sz="1400">
                <a:solidFill>
                  <a:srgbClr val="E2E8F0"/>
                </a:solidFill>
                <a:latin typeface="Arial"/>
              </a:rPr>
              <a:t>• 15% Operations</a:t>
            </a:r>
            <a:r>
              <a:t>
</a:t>
            </a:r>
            <a:r>
              <a:rPr sz="1400">
                <a:solidFill>
                  <a:srgbClr val="E2E8F0"/>
                </a:solidFill>
                <a:latin typeface="Arial"/>
              </a:rPr>
              <a:t>• 10% Reserve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4381500"/>
            <a:ext cx="7620000" cy="571500"/>
          </a:xfrm>
          <a:prstGeom prst="rect">
            <a:avLst/>
          </a:prstGeom>
          <a:solidFill>
            <a:srgbClr val="FFFFFF"/>
          </a:solidFill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9500" y="4521200"/>
            <a:ext cx="6985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700">
                <a:solidFill>
                  <a:srgbClr val="FFFFFF"/>
                </a:solidFill>
                <a:latin typeface="Arial"/>
              </a:rPr>
              <a:t>📧 sarah@nova-ai.com  •  📞 (415) 555-0199  •  🌐 nova-ai.com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