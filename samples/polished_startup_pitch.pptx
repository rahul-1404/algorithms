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905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Arial"/>
              </a:rPr>
              <a:t>TechFlow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FFFFF"/>
                </a:solidFill>
                <a:latin typeface="Arial"/>
              </a:rPr>
              <a:t>Revolutionizing Enterprise Automation</a:t>
            </a:r>
            <a:r>
              <a:t>
</a:t>
            </a:r>
            <a:r>
              <a:rPr sz="2400">
                <a:solidFill>
                  <a:srgbClr val="FFFFFF"/>
                </a:solidFill>
                <a:latin typeface="Arial"/>
              </a:rPr>
              <a:t>with 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4191000"/>
            <a:ext cx="2286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4356100"/>
            <a:ext cx="2286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SERIES A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50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Companies waste billions on manual processes that could be automated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032000"/>
            <a:ext cx="2540000" cy="2667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000" y="2413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F4444"/>
                </a:solidFill>
                <a:latin typeface="Arial"/>
              </a:rPr>
              <a:t>87%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3302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</a:rPr>
              <a:t>Manual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3810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Tasks still done manually despite automation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02000" y="2032000"/>
            <a:ext cx="2540000" cy="2667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413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9E0B"/>
                </a:solidFill>
                <a:latin typeface="Arial"/>
              </a:rPr>
              <a:t>$450B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0" y="3302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</a:rPr>
              <a:t>Wasted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6000" y="3810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Annual waste on inefficient processes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9000" y="2032000"/>
            <a:ext cx="2540000" cy="2667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000" y="2413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8B5CF6"/>
                </a:solidFill>
                <a:latin typeface="Arial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0" y="3302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</a:rPr>
              <a:t>Time 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0" y="3810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Employee time on repetitive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50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35000" y="1524000"/>
            <a:ext cx="7747000" cy="889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8034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🤖  AI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1000" y="2133600"/>
            <a:ext cx="64135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99999"/>
                </a:solidFill>
                <a:latin typeface="Arial"/>
              </a:rPr>
              <a:t>Deploy autonomous AI agents that learn and improve continuously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000" y="2540000"/>
            <a:ext cx="7747000" cy="889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8194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⚡  Real-Time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1000" y="3149600"/>
            <a:ext cx="64135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99999"/>
                </a:solidFill>
                <a:latin typeface="Arial"/>
              </a:rPr>
              <a:t>Agents adapt to your business processes in real-time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" y="3556000"/>
            <a:ext cx="3746500" cy="889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835400"/>
            <a:ext cx="31115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💰  80%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165600"/>
            <a:ext cx="31115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99999"/>
                </a:solidFill>
                <a:latin typeface="Arial"/>
              </a:rPr>
              <a:t>Reduce costs dramatically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5500" y="3556000"/>
            <a:ext cx="3746500" cy="889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3000" y="3835400"/>
            <a:ext cx="31115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🚀  5min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0" y="4165600"/>
            <a:ext cx="31115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99999"/>
                </a:solidFill>
                <a:latin typeface="Arial"/>
              </a:rPr>
              <a:t>Deploy instantly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50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Arial"/>
              </a:rPr>
              <a:t>Market Opportunity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778000"/>
            <a:ext cx="2540000" cy="25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5000" y="2540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rial"/>
              </a:rPr>
              <a:t>$50B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3556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Arial"/>
              </a:rPr>
              <a:t>Total Addressable</a:t>
            </a:r>
            <a:r>
              <a:t>
</a:t>
            </a:r>
            <a:r>
              <a:rPr sz="1400">
                <a:solidFill>
                  <a:srgbClr val="FFFFFF"/>
                </a:solidFill>
                <a:latin typeface="Arial"/>
              </a:rPr>
              <a:t>Market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0" y="1778000"/>
            <a:ext cx="2540000" cy="25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02000" y="2540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rial"/>
              </a:rPr>
              <a:t>65%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000" y="3556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Arial"/>
              </a:rPr>
              <a:t>Annual Growth</a:t>
            </a:r>
            <a:r>
              <a:t>
</a:t>
            </a:r>
            <a:r>
              <a:rPr sz="1400">
                <a:solidFill>
                  <a:srgbClr val="FFFFFF"/>
                </a:solidFill>
                <a:latin typeface="Arial"/>
              </a:rPr>
              <a:t>Rate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1778000"/>
            <a:ext cx="2540000" cy="254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9000" y="2540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rial"/>
              </a:rPr>
              <a:t>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0" y="35560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Arial"/>
              </a:rPr>
              <a:t>Enterprise</a:t>
            </a:r>
            <a:r>
              <a:t>
</a:t>
            </a:r>
            <a:r>
              <a:rPr sz="1400">
                <a:solidFill>
                  <a:srgbClr val="FFFFFF"/>
                </a:solidFill>
                <a:latin typeface="Arial"/>
              </a:rPr>
              <a:t>Prospects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50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Arial"/>
              </a:rPr>
              <a:t>Our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065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From zero to $3.5M MRR in 11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32000"/>
            <a:ext cx="7112000" cy="381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866900"/>
            <a:ext cx="254000" cy="254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3495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Jan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6670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Founded</a:t>
            </a:r>
            <a:r>
              <a:t>
</a:t>
            </a:r>
            <a:r>
              <a:rPr sz="1200">
                <a:solidFill>
                  <a:srgbClr val="666666"/>
                </a:solidFill>
                <a:latin typeface="Arial"/>
              </a:rPr>
              <a:t>Raised $3M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94000" y="1866900"/>
            <a:ext cx="254000" cy="254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9500" y="23495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Apr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9500" y="26670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100 customers</a:t>
            </a:r>
            <a:r>
              <a:t>
</a:t>
            </a:r>
            <a:r>
              <a:rPr sz="1200">
                <a:solidFill>
                  <a:srgbClr val="666666"/>
                </a:solidFill>
                <a:latin typeface="Arial"/>
              </a:rPr>
              <a:t>$250K MRR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66900"/>
            <a:ext cx="254000" cy="25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7500" y="23495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Aug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7500" y="26670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500 customers</a:t>
            </a:r>
            <a:r>
              <a:t>
</a:t>
            </a:r>
            <a:r>
              <a:rPr sz="1200">
                <a:solidFill>
                  <a:srgbClr val="666666"/>
                </a:solidFill>
                <a:latin typeface="Arial"/>
              </a:rPr>
              <a:t>$1M MRR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1866900"/>
            <a:ext cx="254000" cy="25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5500" y="23495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Nov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0" y="2667000"/>
            <a:ext cx="127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1,500 customers</a:t>
            </a:r>
            <a:r>
              <a:t>
</a:t>
            </a:r>
            <a:r>
              <a:rPr sz="1200">
                <a:solidFill>
                  <a:srgbClr val="666666"/>
                </a:solidFill>
                <a:latin typeface="Arial"/>
              </a:rPr>
              <a:t>$3.5M MRR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50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Leadership Team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651000"/>
            <a:ext cx="2540000" cy="177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5000" y="3683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Dr. Sarah 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4000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BBF24"/>
                </a:solidFill>
                <a:latin typeface="Arial"/>
              </a:rPr>
              <a:t>CEO &amp; Co-Founder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431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Ex-Google DeepMind</a:t>
            </a:r>
            <a:r>
              <a:t>
</a:t>
            </a:r>
            <a:r>
              <a:rPr sz="1200">
                <a:solidFill>
                  <a:srgbClr val="999999"/>
                </a:solidFill>
                <a:latin typeface="Arial"/>
              </a:rPr>
              <a:t>Stanford PhD AI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0" y="1651000"/>
            <a:ext cx="2540000" cy="177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02000" y="3683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Marcus Johnson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2000" y="4000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BBF24"/>
                </a:solidFill>
                <a:latin typeface="Arial"/>
              </a:rPr>
              <a:t>CTO &amp; Co-Founder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2000" y="431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Ex-Amazon AWS</a:t>
            </a:r>
            <a:r>
              <a:t>
</a:t>
            </a:r>
            <a:r>
              <a:rPr sz="1200">
                <a:solidFill>
                  <a:srgbClr val="999999"/>
                </a:solidFill>
                <a:latin typeface="Arial"/>
              </a:rPr>
              <a:t>MIT Computer Science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1651000"/>
            <a:ext cx="2540000" cy="177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69000" y="3683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Priya Sharma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9000" y="4000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BBF24"/>
                </a:solidFill>
                <a:latin typeface="Arial"/>
              </a:rPr>
              <a:t>Head of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9000" y="431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Ex-Meta AI</a:t>
            </a:r>
            <a:r>
              <a:t>
</a:t>
            </a:r>
            <a:r>
              <a:rPr sz="1200">
                <a:solidFill>
                  <a:srgbClr val="999999"/>
                </a:solidFill>
                <a:latin typeface="Arial"/>
              </a:rPr>
              <a:t>Berkeley MBA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rial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286000"/>
            <a:ext cx="35560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6035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666666"/>
                </a:solidFill>
                <a:latin typeface="Arial"/>
              </a:rPr>
              <a:t>Raising Series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845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A1A1A"/>
                </a:solidFill>
                <a:latin typeface="Arial"/>
              </a:rPr>
              <a:t>$15M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286000"/>
            <a:ext cx="38100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89500" y="2540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Use of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9500" y="2921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Arial"/>
              </a:rPr>
              <a:t>45% Engineering &amp; AI R&amp;D</a:t>
            </a:r>
            <a:r>
              <a:t>
</a:t>
            </a:r>
            <a:r>
              <a:rPr sz="1300">
                <a:solidFill>
                  <a:srgbClr val="FFFFFF"/>
                </a:solidFill>
                <a:latin typeface="Arial"/>
              </a:rPr>
              <a:t>30% Sales &amp; Marketing</a:t>
            </a:r>
            <a:r>
              <a:t>
</a:t>
            </a:r>
            <a:r>
              <a:rPr sz="1300">
                <a:solidFill>
                  <a:srgbClr val="FFFFFF"/>
                </a:solidFill>
                <a:latin typeface="Arial"/>
              </a:rPr>
              <a:t>15% Operations</a:t>
            </a:r>
            <a:r>
              <a:t>
</a:t>
            </a:r>
            <a:r>
              <a:rPr sz="1300">
                <a:solidFill>
                  <a:srgbClr val="FFFFFF"/>
                </a:solidFill>
                <a:latin typeface="Arial"/>
              </a:rPr>
              <a:t>10%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3815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Arial"/>
              </a:rPr>
              <a:t>sarah@techflow-ai.com  •  (415) 555-0123  •  techflow-ai.com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